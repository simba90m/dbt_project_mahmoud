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3291840"/>
            <a:ext cx="3840480" cy="384048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317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Insights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dbt analytics pipeline turning raw order data into trusted, ready to use sales performance metrics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Review   •   Data Analytics and AI Bootcamp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Cover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" name="Image 0" descr="icon_targe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" y="1723644"/>
            <a:ext cx="347472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527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645920" y="1874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raw order data was hard to trust and reuse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8" name="Image 1" descr="icon_diagram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" y="2866644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45920" y="2670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We Built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645920" y="3017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Staging, prep, and mart layers in dbt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40080" y="384048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2" name="Image 2" descr="icon_char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4009644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45920" y="3813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Shows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645920" y="4160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order volume, and category performance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40080" y="498348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6" name="Image 3" descr="icon_chec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5152644"/>
            <a:ext cx="347472" cy="34747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645920" y="4956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and Next Steps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1645920" y="5303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validated results and what comes next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Trading distributes food and beverage products worldwide. Their analytics team faced three recurring problems.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3172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icon_boxe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53288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3375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Messy Raw Data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column names and data types across order, product, and category tables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5112" y="196596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45152" y="233172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icon_layer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32888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9432" y="33375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Repeated Manual Joins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599432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analyst wrote the same long SQL joins to answer basic sales questions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01584" y="196596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21624" y="233172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6" name="Image 2" descr="icon_diagram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2532888"/>
            <a:ext cx="420624" cy="4206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75904" y="33375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Shared Definition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75904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and profit were calculated differently depending on who ran the report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We Built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dbt layers turn raw Northwind tables into one trusted, query ready mart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7FAFC"/>
          </a:solidFill>
          <a:ln/>
        </p:spPr>
      </p:sp>
      <p:sp>
        <p:nvSpPr>
          <p:cNvPr id="5" name="Shape 3"/>
          <p:cNvSpPr/>
          <p:nvPr/>
        </p:nvSpPr>
        <p:spPr>
          <a:xfrm>
            <a:off x="1874520" y="21488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icon_databas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832" y="23591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2004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36118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4069080"/>
            <a:ext cx="2971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column names, cast dates and numbers, drop unused fields from orders, order details, products, and categories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93192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607080"/>
                </a:solidFill>
              </a:rPr>
              <a:t>→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4325112" y="18288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5650992" y="214884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icon_filt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304" y="2359152"/>
            <a:ext cx="493776" cy="4937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25112" y="32004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325112" y="36118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model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99432" y="4069080"/>
            <a:ext cx="2971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staging tables and calculate revenue as unit price times quantity times one minus discount, plus order year and month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708392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607080"/>
                </a:solidFill>
              </a:rPr>
              <a:t>→</a:t>
            </a:r>
            <a:endParaRPr lang="en-US" sz="2600" dirty="0"/>
          </a:p>
        </p:txBody>
      </p:sp>
      <p:sp>
        <p:nvSpPr>
          <p:cNvPr id="18" name="Shape 14"/>
          <p:cNvSpPr/>
          <p:nvPr/>
        </p:nvSpPr>
        <p:spPr>
          <a:xfrm>
            <a:off x="8101584" y="18288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7FAFC"/>
          </a:solidFill>
          <a:ln/>
        </p:spPr>
      </p:sp>
      <p:sp>
        <p:nvSpPr>
          <p:cNvPr id="19" name="Shape 15"/>
          <p:cNvSpPr/>
          <p:nvPr/>
        </p:nvSpPr>
        <p:spPr>
          <a:xfrm>
            <a:off x="9427464" y="2148840"/>
            <a:ext cx="914400" cy="91440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20" name="Image 2" descr="icon_tab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76" y="2359152"/>
            <a:ext cx="493776" cy="49377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101584" y="32004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8101584" y="36118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model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8375904" y="4069080"/>
            <a:ext cx="2971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revenue, order counts, and average order value by year, month, and category for reporting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with automated data tests confirming no missing values in the final mart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by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across all periods, July 1996 through May 1998</a:t>
            </a:r>
            <a:endParaRPr lang="en-US" sz="1300" dirty="0"/>
          </a:p>
        </p:txBody>
      </p:sp>
      <p:pic>
        <p:nvPicPr>
          <p:cNvPr id="4" name="Image 0" descr="chart_revenue_by_categ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795528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823960" y="1691640"/>
            <a:ext cx="2743200" cy="1417320"/>
          </a:xfrm>
          <a:prstGeom prst="roundRect">
            <a:avLst>
              <a:gd name="adj" fmla="val 6452"/>
            </a:avLst>
          </a:prstGeom>
          <a:solidFill>
            <a:srgbClr val="065A82"/>
          </a:solidFill>
          <a:ln/>
        </p:spPr>
      </p:sp>
      <p:sp>
        <p:nvSpPr>
          <p:cNvPr id="6" name="Text 3"/>
          <p:cNvSpPr/>
          <p:nvPr/>
        </p:nvSpPr>
        <p:spPr>
          <a:xfrm>
            <a:off x="8823960" y="181051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€1.27M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823960" y="2514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Analyzed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823960" y="3291840"/>
            <a:ext cx="2743200" cy="1417320"/>
          </a:xfrm>
          <a:prstGeom prst="roundRect">
            <a:avLst>
              <a:gd name="adj" fmla="val 6452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8823960" y="35661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Beverages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823960" y="41148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category by revenue, €268K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Revenue Trend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category revenue by month, showing strong growth into early 1998</a:t>
            </a:r>
            <a:endParaRPr lang="en-US" sz="1300" dirty="0"/>
          </a:p>
        </p:txBody>
      </p:sp>
      <p:pic>
        <p:nvPicPr>
          <p:cNvPr id="4" name="Image 0" descr="chart_monthly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Volume vs Order Value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size reflects total category revenue; position shows the volume and value trade off</a:t>
            </a:r>
            <a:endParaRPr lang="en-US" sz="1300" dirty="0"/>
          </a:p>
        </p:txBody>
      </p:sp>
      <p:pic>
        <p:nvPicPr>
          <p:cNvPr id="4" name="Image 0" descr="chart_orders_vs_avgva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749808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86800" y="1691640"/>
            <a:ext cx="2880360" cy="4297680"/>
          </a:xfrm>
          <a:prstGeom prst="roundRect">
            <a:avLst>
              <a:gd name="adj" fmla="val 3175"/>
            </a:avLst>
          </a:prstGeom>
          <a:solidFill>
            <a:srgbClr val="F7FAFC"/>
          </a:solidFill>
          <a:ln/>
        </p:spPr>
      </p:sp>
      <p:sp>
        <p:nvSpPr>
          <p:cNvPr id="6" name="Text 3"/>
          <p:cNvSpPr/>
          <p:nvPr/>
        </p:nvSpPr>
        <p:spPr>
          <a:xfrm>
            <a:off x="8915400" y="1874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Chart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915400" y="2331720"/>
            <a:ext cx="2514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Meat and Poultry: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orders but the highest average value per order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Beverages and Seafood: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order counts, driving steady volume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Seafood: 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 but the lowest average order value, a possible upsell opportunity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over Year, Top Categories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four highest revenue categories across the three years of data</a:t>
            </a:r>
            <a:endParaRPr lang="en-US" sz="1300" dirty="0"/>
          </a:p>
        </p:txBody>
      </p:sp>
      <p:pic>
        <p:nvPicPr>
          <p:cNvPr id="4" name="Image 0" descr="chart_yearly_to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795528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823960" y="1691640"/>
            <a:ext cx="2743200" cy="4297680"/>
          </a:xfrm>
          <a:prstGeom prst="roundRect">
            <a:avLst>
              <a:gd name="adj" fmla="val 3333"/>
            </a:avLst>
          </a:prstGeom>
          <a:solidFill>
            <a:srgbClr val="21295C"/>
          </a:solidFill>
          <a:ln/>
        </p:spPr>
      </p:sp>
      <p:sp>
        <p:nvSpPr>
          <p:cNvPr id="6" name="Text 3"/>
          <p:cNvSpPr/>
          <p:nvPr/>
        </p:nvSpPr>
        <p:spPr>
          <a:xfrm>
            <a:off x="9052560" y="1920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 on 1998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9052560" y="237744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 and 1998 are partial years in this dataset. 1996 begins in July and 1998 ends in May, so full year totals are not directly comparable to 1997.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6916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Beverages and Dairy Products together account for close to forty percent of total revenue across the full period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8803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60604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Meat and Poultry commands the highest average order value, suggesting a smaller base of higher spending customers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406908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79476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climbed sharply into early 1998, with January through April outperforming the same months in prior years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98348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525780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257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98348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Seafood combines high order volume with a comparatively low average order value, a candidate for bundling or upsell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and Validation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mart column is covered by automated dbt tests to catch broken joins or missing data before it reaches a dashboard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5" name="Image 0" descr="icon_chec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13055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order_year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417320" y="2514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297680" y="1965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9" name="Image 1" descr="icon_chec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24028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166360" y="213055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order_month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166360" y="2514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046720" y="196596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13" name="Image 2" descr="icon_check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24028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915400" y="213055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category_name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8915400" y="2514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338328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17" name="Image 3" descr="icon_check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65760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35478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total_revenue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417320" y="39319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297680" y="338328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21" name="Image 4" descr="icon_chec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365760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166360" y="35478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total_orders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5166360" y="39319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046720" y="3383280"/>
            <a:ext cx="3520440" cy="1188720"/>
          </a:xfrm>
          <a:prstGeom prst="roundRect">
            <a:avLst>
              <a:gd name="adj" fmla="val 7692"/>
            </a:avLst>
          </a:prstGeom>
          <a:solidFill>
            <a:srgbClr val="F7FAFC"/>
          </a:solidFill>
          <a:ln/>
        </p:spPr>
      </p:sp>
      <p:pic>
        <p:nvPicPr>
          <p:cNvPr id="25" name="Image 5" descr="icon_check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65760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915400" y="35478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avg_revenue_per_order</a:t>
            </a:r>
            <a:endParaRPr lang="en-US" sz="1350" dirty="0"/>
          </a:p>
        </p:txBody>
      </p:sp>
      <p:sp>
        <p:nvSpPr>
          <p:cNvPr id="27" name="Text 19"/>
          <p:cNvSpPr/>
          <p:nvPr/>
        </p:nvSpPr>
        <p:spPr>
          <a:xfrm>
            <a:off x="8915400" y="39319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verified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065A82"/>
          </a:solidFill>
          <a:ln/>
        </p:spPr>
      </p:sp>
      <p:sp>
        <p:nvSpPr>
          <p:cNvPr id="29" name="Text 21"/>
          <p:cNvSpPr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6 automated tests passed on the current build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874520" y="20574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icon_targe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832" y="226771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31546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 a BI Tool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379476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 dashboard directly at the mart for self serve reporting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25112" y="16916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650992" y="20574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0" name="Image 1" descr="icon_clipboar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304" y="226771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53712" y="31546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Test Coverage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645152" y="379476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uniqueness and relationship tests across the staging layer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01584" y="16916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0E6E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427464" y="20574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5" name="Image 2" descr="icon_char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76" y="226771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30184" y="31546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3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Customer Dimension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421624" y="379476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customer data to analyze revenue by region and account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1828800"/>
            <a:ext cx="4572000" cy="45720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65176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 welcome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Northwind Sales Insights   •   dbt Analytics Pipeline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2026-07-29T11:48:12Z</dcterms:created>
  <dcterms:modified xsi:type="dcterms:W3CDTF">2026-07-29T11:48:12Z</dcterms:modified>
</cp:coreProperties>
</file>