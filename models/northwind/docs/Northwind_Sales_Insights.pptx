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37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Insights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dbt analytics pipeline turning raw order data into trusted, ready to use sales performance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  •   Data Analytics and AI Bootcamp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236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27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order data was hard to trust and reuse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icon_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8666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670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We Built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459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prep, and mart layers in dbt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_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00964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813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459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 volume, and category performance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983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1526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956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and Next Steps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4592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validated results and what comes next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Trading distributes food and beverage products worldwide. Their analytics team faced three recurring problems.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_box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5328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Raw Data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column names and data types across order, product, and category tables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3288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Manual Joins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99432" y="3977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wrote the same long SQL joins to answer basic sales questions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1624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_diagra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53288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Definition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75904" y="3977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were calculated differently depending on who ran the report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We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dbt layers turn raw Northwind tables into one trusted, query ready mart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21488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23591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40690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 names, cast dates and numbers, drop unused fields from orders, order details, products, and categories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319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07080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325112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50992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_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35915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5112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325112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99432" y="40690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staging tables and calculate revenue as unit price times quantity times one minus discount, plus order year and month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70839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07080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101584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7464" y="214884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icon_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235915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01584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101584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75904" y="40690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revenue, order counts, and average order value by year, month, and category for reporting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automated data tests confirming no missing values in the final mart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3268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all periods, July 1996 through May 1998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20440" y="15361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ranked by total revenue earned across the full period, in thousands of euros</a:t>
            </a:r>
            <a:endParaRPr lang="en-US" sz="1050" dirty="0"/>
          </a:p>
        </p:txBody>
      </p:sp>
      <p:pic>
        <p:nvPicPr>
          <p:cNvPr id="8" name="Image 0" descr="chart_revenu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795528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23960" y="1691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823960" y="18105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€1.27M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82396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Analyzed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823960" y="32918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82396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Beverages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82396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by revenue, €268K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3268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category revenue by month, showing strong growth into early 1998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536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colored band is one category; the total height at any point is that month’s combined revenue</a:t>
            </a:r>
            <a:endParaRPr lang="en-US" sz="1050" dirty="0"/>
          </a:p>
        </p:txBody>
      </p:sp>
      <p:pic>
        <p:nvPicPr>
          <p:cNvPr id="8" name="Image 0" descr="chart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110642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vs Order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3268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reflects total category revenue; position shows the volume and value trade off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5361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36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0332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 is order count, bottom to top is average order value, bubble size is total revenue</a:t>
            </a:r>
            <a:endParaRPr lang="en-US" sz="1000" dirty="0"/>
          </a:p>
        </p:txBody>
      </p:sp>
      <p:pic>
        <p:nvPicPr>
          <p:cNvPr id="8" name="Image 0" descr="chart_orders_vs_avg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749808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691640"/>
            <a:ext cx="2880360" cy="4480560"/>
          </a:xfrm>
          <a:prstGeom prst="roundRect">
            <a:avLst>
              <a:gd name="adj" fmla="val 3175"/>
            </a:avLst>
          </a:pr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891540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15400" y="2331720"/>
            <a:ext cx="2514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and Poultry: </a:t>
            </a: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orders but the highest average value per order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and Dairy Products: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order counts, driving steady volume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Seafood: 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but the lowest average order value, a possible upsell opportunity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over Year, Top Categories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3268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four highest revenue categories across the three years of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20440" y="15361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bars let you compare the same category side by side across three consecutive years</a:t>
            </a:r>
            <a:endParaRPr lang="en-US" sz="1050" dirty="0"/>
          </a:p>
        </p:txBody>
      </p:sp>
      <p:pic>
        <p:nvPicPr>
          <p:cNvPr id="8" name="Image 0" descr="chart_yearly_to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795528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23960" y="1691640"/>
            <a:ext cx="2743200" cy="448056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on 1998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052560" y="23774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 and 1998 are partial years in this dataset. 1996 begins in July and 1998 ends in May, so full year totals are not directly comparable to 1997.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and Dairy Products together account for close to forty percent of total revenue across the full period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and Poultry commands the highest average order value, suggesting a smaller base of higher spending customers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79476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climbed sharply into early 1998, with January through April outperforming the same months in prior years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98348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 combines high order volume with a comparatively low average order value, a candidate for bundling or upsell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2860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50292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Reflections From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own words, from the project README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2A3470"/>
          </a:solidFill>
          <a:ln/>
        </p:spPr>
      </p:sp>
      <p:pic>
        <p:nvPicPr>
          <p:cNvPr id="8" name="Image 0" descr="icon_quo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002536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GB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solution didn't match the real database, so I had to actually check the columns myself, and that's when it really clicked what this job is.”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81635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WORKING WITH REAL DATA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335584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2A3470"/>
          </a:solidFill>
          <a:ln/>
        </p:spPr>
      </p:sp>
      <p:pic>
        <p:nvPicPr>
          <p:cNvPr id="12" name="Image 1" descr="icon_quo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387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483864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"Verifying the real schema before writing a single line of SQL is not optional, it is the actual first step of the job."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42976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BIGGEST LEARNING MOMENT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4837176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2A3470"/>
          </a:solidFill>
          <a:ln/>
        </p:spPr>
      </p:sp>
      <p:pic>
        <p:nvPicPr>
          <p:cNvPr id="16" name="Image 2" descr="icon_quo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200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96519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cleaning happens once, the definition of revenue is calculated once, and every downstream user works from one trusted table."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577900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WHY THE PIPELINE MATTERS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and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mart column is covered by automated dbt tests to catch broken joins or missing data before it reaches a dashboard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6" name="Image 0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order_year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10" name="Image 1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2402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order_month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16636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14" name="Image 2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2402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1540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category_name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91540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18" name="Image 3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total_revenue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1732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297680" y="33832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22" name="Image 4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6576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total_orders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16636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46720" y="33832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/>
        </p:spPr>
      </p:sp>
      <p:pic>
        <p:nvPicPr>
          <p:cNvPr id="26" name="Image 5" descr="icon_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65760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1540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avg_revenue_per_order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9154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verified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30" name="Text 22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6 automated tests passed on the current build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502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057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22677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 BI Tool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dashboard directly at the mart for self serve reporting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50992" y="2057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2677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Test Coverage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5152" y="37947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uniqueness and relationship tests across the staging layer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27464" y="2057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226771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Customer Dimension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1624" y="37947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customer data to analyze revenue by region and account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Insights   •   dbt Analytics 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Abdelaziz</cp:lastModifiedBy>
  <cp:revision>3</cp:revision>
  <dcterms:created xsi:type="dcterms:W3CDTF">2026-07-30T07:16:16Z</dcterms:created>
  <dcterms:modified xsi:type="dcterms:W3CDTF">2026-07-30T07:57:38Z</dcterms:modified>
</cp:coreProperties>
</file>