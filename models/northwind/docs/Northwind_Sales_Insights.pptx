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2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4378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3291840"/>
            <a:ext cx="3840480" cy="384048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Insights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dbt analytics pipeline turning raw order data into trusted, ready to use sales performance metrics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Review   •   Data Analytics and AI Bootcamp Project • Presented </a:t>
            </a:r>
            <a:r>
              <a:rPr lang="en-US" sz="120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Mahmoud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54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icon_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172364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527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4592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raw order data was hard to trust and reuse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9" name="Image 1" descr="icon_diagram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2866644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670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We Built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645920" y="3017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Staging, prep, and mart layers in dbt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840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icon_cha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" y="4009644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3813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Shows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4592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order volume, and category performance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4983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7" name="Image 3" descr="icon_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" y="5152644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45920" y="4956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and Next Steps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645920" y="5303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validated results and what comes next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Trading distributes food and beverage products worldwide. Their analytics team faced three recurring problems.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3317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7" name="Image 0" descr="icon_boxe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32888"/>
            <a:ext cx="420624" cy="4206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Messy Raw Data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2296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column names and data types across order, product, and category tables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25112" y="19659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45152" y="23317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icon_lay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532888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99432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Repeated Manual Joins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599432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analyst wrote the same long SQL joins to answer basic sales questions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01584" y="19659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21624" y="23317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2" descr="icon_diagram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792" y="2532888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Shared Definition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8375904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and profit were calculated differently depending on who ran the report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We Built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dbt layers turn raw Northwind tables into one trusted, query ready mart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1874520" y="21488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icon_databa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832" y="2359152"/>
            <a:ext cx="493776" cy="4937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2004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48640" y="36118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22960" y="406908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column names, cast dates and numbers, drop unused fields from orders, order details, products, and categories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93192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607080"/>
                </a:solidFill>
              </a:rPr>
              <a:t>→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4325112" y="18288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7FAFC"/>
          </a:solidFill>
          <a:ln/>
        </p:spPr>
      </p:sp>
      <p:sp>
        <p:nvSpPr>
          <p:cNvPr id="13" name="Shape 10"/>
          <p:cNvSpPr/>
          <p:nvPr/>
        </p:nvSpPr>
        <p:spPr>
          <a:xfrm>
            <a:off x="5650992" y="21488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1" descr="icon_filt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359152"/>
            <a:ext cx="493776" cy="4937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325112" y="32004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325112" y="36118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model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4599432" y="406908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staging tables and calculate revenue as unit price times quantity times one minus discount, plus order year and month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708392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607080"/>
                </a:solidFill>
              </a:rPr>
              <a:t>→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8101584" y="18288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7FAFC"/>
          </a:solidFill>
          <a:ln/>
        </p:spPr>
      </p:sp>
      <p:sp>
        <p:nvSpPr>
          <p:cNvPr id="20" name="Shape 16"/>
          <p:cNvSpPr/>
          <p:nvPr/>
        </p:nvSpPr>
        <p:spPr>
          <a:xfrm>
            <a:off x="9427464" y="2148840"/>
            <a:ext cx="914400" cy="91440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1" name="Image 2" descr="icon_tab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2359152"/>
            <a:ext cx="493776" cy="49377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01584" y="32004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8101584" y="36118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model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375904" y="406908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revenue, order counts, and average order value by year, month, and category for reporting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automated data tests confirming no missing values in the final mart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Category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93268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across all periods, July 1996 through May 1998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53619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520440" y="1536192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category ranked by total revenue earned across the full period, in thousands of euros</a:t>
            </a:r>
            <a:endParaRPr lang="en-US" sz="1050" dirty="0"/>
          </a:p>
        </p:txBody>
      </p:sp>
      <p:pic>
        <p:nvPicPr>
          <p:cNvPr id="8" name="Image 0" descr="chart_revenue_by_categ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7955280" cy="4160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23960" y="169164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065A82"/>
          </a:solidFill>
          <a:ln/>
        </p:spPr>
      </p:sp>
      <p:sp>
        <p:nvSpPr>
          <p:cNvPr id="10" name="Text 7"/>
          <p:cNvSpPr/>
          <p:nvPr/>
        </p:nvSpPr>
        <p:spPr>
          <a:xfrm>
            <a:off x="8823960" y="181051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€1.27M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82396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Analyzed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823960" y="329184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8823960" y="3566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Beverages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823960" y="4114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category by revenue, €268K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Revenue Trend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93268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category revenue by month, showing strong growth into early 1998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361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9000" y="15361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colored band is one category; the total height at any point is that month’s combined revenue</a:t>
            </a:r>
            <a:endParaRPr lang="en-US" sz="1050" dirty="0"/>
          </a:p>
        </p:txBody>
      </p:sp>
      <p:pic>
        <p:nvPicPr>
          <p:cNvPr id="8" name="Image 0" descr="chart_monthly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65960"/>
            <a:ext cx="11064240" cy="4480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Volume vs Order Value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93268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size reflects total category revenue; position shows the volume and value trade off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3619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361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703320" y="153619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 is order count, bottom to top is average order value, bubble size is total revenue</a:t>
            </a:r>
            <a:endParaRPr lang="en-US" sz="1000" dirty="0"/>
          </a:p>
        </p:txBody>
      </p:sp>
      <p:pic>
        <p:nvPicPr>
          <p:cNvPr id="8" name="Image 0" descr="chart_orders_vs_avgva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680"/>
            <a:ext cx="7498080" cy="4160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86800" y="1691640"/>
            <a:ext cx="2880360" cy="4480560"/>
          </a:xfrm>
          <a:prstGeom prst="roundRect">
            <a:avLst>
              <a:gd name="adj" fmla="val 3175"/>
            </a:avLst>
          </a:prstGeom>
          <a:solidFill>
            <a:srgbClr val="F7FAFC"/>
          </a:solidFill>
          <a:ln/>
        </p:spPr>
      </p:sp>
      <p:sp>
        <p:nvSpPr>
          <p:cNvPr id="10" name="Text 7"/>
          <p:cNvSpPr/>
          <p:nvPr/>
        </p:nvSpPr>
        <p:spPr>
          <a:xfrm>
            <a:off x="8915400" y="1874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Chart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915400" y="2331720"/>
            <a:ext cx="2514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Meat and Poultry: </a:t>
            </a: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orders but the highest average value per order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Beverages and Dairy Products: 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order counts, driving steady volume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Seafood: 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 but the lowest average order value, a possible upsell opportunity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over Year, Top Categories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93268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four highest revenue categories across the three years of data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53619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520440" y="1536192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bars let you compare the same category side by side across three consecutive years</a:t>
            </a:r>
            <a:endParaRPr lang="en-US" sz="1050" dirty="0"/>
          </a:p>
        </p:txBody>
      </p:sp>
      <p:pic>
        <p:nvPicPr>
          <p:cNvPr id="8" name="Image 0" descr="chart_yearly_to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7955280" cy="4160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23960" y="1691640"/>
            <a:ext cx="2743200" cy="4480560"/>
          </a:xfrm>
          <a:prstGeom prst="roundRect">
            <a:avLst>
              <a:gd name="adj" fmla="val 3333"/>
            </a:avLst>
          </a:prstGeom>
          <a:solidFill>
            <a:srgbClr val="21295C"/>
          </a:solidFill>
          <a:ln/>
        </p:spPr>
      </p:sp>
      <p:sp>
        <p:nvSpPr>
          <p:cNvPr id="10" name="Text 7"/>
          <p:cNvSpPr/>
          <p:nvPr/>
        </p:nvSpPr>
        <p:spPr>
          <a:xfrm>
            <a:off x="9052560" y="1920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on 1998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052560" y="237744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and 1998 are partial years in this dataset. 1996 begins in July and 1998 ends in May, so full year totals are not directly comparable to 1997.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Beverages and Dairy Products together account for close to forty percent of total revenue across the full period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8803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60604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Meat and Poultry commands the highest average order value, suggesting a smaller base of higher spending customers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406908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79476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climbed sharply into early 1998, with January through April outperforming the same months in prior years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98348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Seafood combines high order volume with a comparatively low average order value, a candidate for bundling or upsell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286000"/>
            <a:ext cx="5029200" cy="50292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502920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Reflections From the Project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6400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own words, from the project README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2A3470"/>
          </a:solidFill>
          <a:ln/>
        </p:spPr>
      </p:sp>
      <p:pic>
        <p:nvPicPr>
          <p:cNvPr id="8" name="Image 0" descr="icon_quot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05740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2002536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r>
              <a:rPr lang="en-GB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solution didn't match the real database, so I had to actually check the columns myself, and that's when it really clicked what this job is.”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71600" y="2816352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A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WORKING WITH REAL DATA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48640" y="3355848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2A3470"/>
          </a:solidFill>
          <a:ln/>
        </p:spPr>
      </p:sp>
      <p:pic>
        <p:nvPicPr>
          <p:cNvPr id="12" name="Image 1" descr="icon_quot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3872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71600" y="3483864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"Verifying the real schema before writing a single line of SQL is not optional, it is the actual first step of the job."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371600" y="429768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A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BIGGEST LEARNING MOMENT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48640" y="4837176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2A3470"/>
          </a:solidFill>
          <a:ln/>
        </p:spPr>
      </p:sp>
      <p:pic>
        <p:nvPicPr>
          <p:cNvPr id="16" name="Image 2" descr="icon_quot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02005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4965192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cleaning happens once, the definition of revenue is calculated once, and every downstream user works from one trusted table."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71600" y="5779008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A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WHY THE PIPELINE MATTERS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and Validation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mart column is covered by automated dbt tests to catch broken joins or missing data before it reaches a dashboard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6" name="Image 0" descr="icon_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40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1305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order_year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2514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10" name="Image 1" descr="icon_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2402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21305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order_month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2514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04672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14" name="Image 2" descr="icon_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2402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915400" y="21305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category_name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8915400" y="2514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48640" y="33832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18" name="Image 3" descr="icon_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576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5478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total_revenue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417320" y="3931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297680" y="33832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22" name="Image 4" descr="icon_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657600"/>
            <a:ext cx="502920" cy="5029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166360" y="35478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total_orders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5166360" y="3931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046720" y="33832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26" name="Image 5" descr="icon_che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657600"/>
            <a:ext cx="502920" cy="5029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915400" y="35478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avg_revenue_per_order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8915400" y="3931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065A82"/>
          </a:solidFill>
          <a:ln/>
        </p:spPr>
      </p:sp>
      <p:sp>
        <p:nvSpPr>
          <p:cNvPr id="30" name="Text 22"/>
          <p:cNvSpPr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6 automated tests passed on the current build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50292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6916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4520" y="20574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icon_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832" y="226771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1546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a BI Tool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79476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 dashboard directly at the mart for self serve reporting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5112" y="16916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50992" y="20574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icon_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26771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53712" y="31546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Test Coverage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45152" y="379476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uniqueness and relationship tests across the staging layer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01584" y="16916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27464" y="20574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6" name="Image 2" descr="icon_cha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226771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30184" y="31546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Customer Dimension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21624" y="379476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customer data to analyze revenue by region and account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828800"/>
            <a:ext cx="4572000" cy="45720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6517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 welcome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   •   dbt Analytics Pipeline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880</Words>
  <Application>Microsoft Office PowerPoint</Application>
  <PresentationFormat>Widescreen</PresentationFormat>
  <Paragraphs>142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Mahmoud Abdelaziz</cp:lastModifiedBy>
  <cp:revision>5</cp:revision>
  <dcterms:created xsi:type="dcterms:W3CDTF">2026-07-30T07:16:16Z</dcterms:created>
  <dcterms:modified xsi:type="dcterms:W3CDTF">2026-07-30T09:03:41Z</dcterms:modified>
</cp:coreProperties>
</file>